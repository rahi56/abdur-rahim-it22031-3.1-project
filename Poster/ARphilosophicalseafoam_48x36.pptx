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embeddedFontLst>
    <p:embeddedFont>
      <p:font typeface="Amaranth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Tahoma" panose="020B0604030504040204" pitchFamily="34" charset="0"/>
      <p:regular r:id="rId12"/>
      <p:bold r:id="rId13"/>
    </p:embeddedFont>
    <p:embeddedFont>
      <p:font typeface="Titillium Web" panose="00000500000000000000" pitchFamily="2" charset="0"/>
      <p:regular r:id="rId14"/>
      <p:bold r:id="rId15"/>
      <p:italic r:id="rId16"/>
      <p:boldItalic r:id="rId17"/>
    </p:embeddedFont>
  </p:embeddedFontLst>
  <p:custDataLst>
    <p:tags r:id="rId1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D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60"/>
  </p:normalViewPr>
  <p:slideViewPr>
    <p:cSldViewPr>
      <p:cViewPr varScale="1">
        <p:scale>
          <a:sx n="15" d="100"/>
          <a:sy n="15" d="100"/>
        </p:scale>
        <p:origin x="1164" y="12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gs" Target="tags/tag1.xml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>
              <a:defRPr sz="1200"/>
            </a:lvl1pPr>
          </a:lstStyle>
          <a:p>
            <a:pPr>
              <a:defRPr/>
            </a:pPr>
            <a:fld id="{B95F3361-2405-48EE-818C-467D1C2230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7364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kern="1200"/>
            </a:defPPr>
            <a:lvl1pPr eaLnBrk="0" hangingPunct="0">
              <a:defRPr sz="3800">
                <a:solidFill>
                  <a:schemeClr val="tx1"/>
                </a:solidFill>
                <a:latin typeface="Arial"/>
              </a:defRPr>
            </a:lvl1pPr>
            <a:lvl2pPr marL="742950" indent="-285750" eaLnBrk="0" hangingPunct="0">
              <a:defRPr sz="3800">
                <a:solidFill>
                  <a:schemeClr val="tx1"/>
                </a:solidFill>
                <a:latin typeface="Arial"/>
              </a:defRPr>
            </a:lvl2pPr>
            <a:lvl3pPr marL="1143000" indent="-228600" eaLnBrk="0" hangingPunct="0">
              <a:defRPr sz="3800">
                <a:solidFill>
                  <a:schemeClr val="tx1"/>
                </a:solidFill>
                <a:latin typeface="Arial"/>
              </a:defRPr>
            </a:lvl3pPr>
            <a:lvl4pPr marL="1600200" indent="-228600" eaLnBrk="0" hangingPunct="0">
              <a:defRPr sz="3800">
                <a:solidFill>
                  <a:schemeClr val="tx1"/>
                </a:solidFill>
                <a:latin typeface="Arial"/>
              </a:defRPr>
            </a:lvl4pPr>
            <a:lvl5pPr marL="2057400" indent="-228600" eaLnBrk="0" hangingPunct="0">
              <a:defRPr sz="3800">
                <a:solidFill>
                  <a:schemeClr val="tx1"/>
                </a:solidFill>
                <a:latin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Arial"/>
              </a:defRPr>
            </a:lvl9pPr>
          </a:lstStyle>
          <a:p>
            <a:pPr eaLnBrk="1" hangingPunct="1"/>
            <a:fld id="{78EE7683-CAC2-4B7F-B858-28F016B0AEB9}" type="slidenum">
              <a:rPr lang="en-US" sz="1200" smtClean="0"/>
              <a:pPr eaLnBrk="1" hangingPunct="1"/>
              <a:t>1</a:t>
            </a:fld>
            <a:endParaRPr lang="en-US" sz="1200" dirty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kern="1200"/>
            </a:defPPr>
          </a:lstStyle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B043562-595C-41E0-A431-AB378AFFB5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55256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844B6AF-379B-4B34-AAC6-97D3032A49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61525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44BFBC0-7F94-4CE5-A00D-18BE726F28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15911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5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DF645C6-96DC-4F21-9A48-95AFF68A54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479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8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8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B12CE4-144C-4A27-8B3F-7EB79E6B21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523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F1FAA83-0A80-48DF-A2A9-D01CE04D8E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7894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203DA95-0AAE-48A7-9DEF-F9FD3932C4A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86203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038B2-2801-40BE-BC48-C628781FF4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73015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2"/>
            <a:ext cx="26335038" cy="2720975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8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8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700A3960-9A0E-4A4A-BE72-10B88343DD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30283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11865ABB-973D-4162-96BF-63AD8AB82A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4399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38" y="1317625"/>
            <a:ext cx="9875837" cy="28089225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2" cy="28089225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38E2FC5-3957-4F45-8892-8AA1808627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26670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193925" y="7680325"/>
            <a:ext cx="19675475" cy="21726525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22021800" y="7680325"/>
            <a:ext cx="19675475" cy="21726525"/>
          </a:xfrm>
        </p:spPr>
        <p:txBody>
          <a:bodyPr/>
          <a:lstStyle>
            <a:defPPr>
              <a:defRPr kern="1200"/>
            </a:defPPr>
          </a:lstStyle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4FA04B66-8F62-42BD-B0EA-2923AA341B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6588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07" tIns="235104" rIns="470207" bIns="235104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5" y="7680325"/>
            <a:ext cx="39503350" cy="2172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07" tIns="235104" rIns="470207" bIns="23510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5" y="29978350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07" tIns="235104" rIns="470207" bIns="23510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>
              <a:defRPr sz="7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5" y="29978350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07" tIns="235104" rIns="470207" bIns="23510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>
              <a:defRPr sz="7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5" y="29978350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07" tIns="235104" rIns="470207" bIns="23510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>
              <a:defRPr sz="7100" smtClean="0"/>
            </a:lvl1pPr>
          </a:lstStyle>
          <a:p>
            <a:pPr>
              <a:defRPr/>
            </a:pPr>
            <a:fld id="{2839560C-692A-406E-AC47-35009443A5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 dirty="0">
                <a:solidFill>
                  <a:srgbClr val="808080"/>
                </a:solidFill>
              </a:rPr>
              <a:t>Template ID: </a:t>
            </a:r>
            <a:r>
              <a:rPr sz="4560" dirty="0" err="1">
                <a:solidFill>
                  <a:srgbClr val="808080"/>
                </a:solidFill>
              </a:rPr>
              <a:t>philosophicalseafoam</a:t>
            </a:r>
            <a:r>
              <a:rPr sz="4560" dirty="0">
                <a:solidFill>
                  <a:srgbClr val="808080"/>
                </a:solidFill>
              </a:rPr>
              <a:t>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/>
      </a:defPPr>
      <a:lvl1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2pPr>
      <a:lvl3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3pPr>
      <a:lvl4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4pPr>
      <a:lvl5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5pPr>
      <a:lvl6pPr marL="457200" algn="ctr" defTabSz="4703763" rtl="0" fontAlgn="base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6pPr>
      <a:lvl7pPr marL="914400" algn="ctr" defTabSz="4703763" rtl="0" fontAlgn="base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7pPr>
      <a:lvl8pPr marL="1371600" algn="ctr" defTabSz="4703763" rtl="0" fontAlgn="base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8pPr>
      <a:lvl9pPr marL="1828800" algn="ctr" defTabSz="4703763" rtl="0" fontAlgn="base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9pPr>
    </p:titleStyle>
    <p:bodyStyle>
      <a:defPPr>
        <a:defRPr kern="1200"/>
      </a:defPPr>
      <a:lvl1pPr marL="1762125" indent="-1762125" algn="l" defTabSz="4703763" rtl="0" eaLnBrk="0" fontAlgn="base" hangingPunct="0">
        <a:spcBef>
          <a:spcPct val="20000"/>
        </a:spcBef>
        <a:spcAft>
          <a:spcPct val="0"/>
        </a:spcAft>
        <a:buChar char="•"/>
        <a:defRPr sz="16500">
          <a:solidFill>
            <a:schemeClr val="tx1"/>
          </a:solidFill>
          <a:latin typeface="+mn-lt"/>
          <a:ea typeface="+mn-ea"/>
          <a:cs typeface="+mn-cs"/>
        </a:defRPr>
      </a:lvl1pPr>
      <a:lvl2pPr marL="3822700" indent="-1471613" algn="l" defTabSz="4703763" rtl="0" eaLnBrk="0" fontAlgn="base" hangingPunct="0">
        <a:spcBef>
          <a:spcPct val="20000"/>
        </a:spcBef>
        <a:spcAft>
          <a:spcPct val="0"/>
        </a:spcAft>
        <a:buChar char="–"/>
        <a:defRPr sz="14400">
          <a:solidFill>
            <a:schemeClr val="tx1"/>
          </a:solidFill>
          <a:latin typeface="+mn-lt"/>
        </a:defRPr>
      </a:lvl2pPr>
      <a:lvl3pPr marL="5875338" indent="-1171575" algn="l" defTabSz="4703763" rtl="0" eaLnBrk="0" fontAlgn="base" hangingPunct="0">
        <a:spcBef>
          <a:spcPct val="20000"/>
        </a:spcBef>
        <a:spcAft>
          <a:spcPct val="0"/>
        </a:spcAft>
        <a:buChar char="•"/>
        <a:defRPr sz="12400">
          <a:solidFill>
            <a:schemeClr val="tx1"/>
          </a:solidFill>
          <a:latin typeface="+mn-lt"/>
        </a:defRPr>
      </a:lvl3pPr>
      <a:lvl4pPr marL="8228013" indent="-1173163" algn="l" defTabSz="4703763" rtl="0" eaLnBrk="0" fontAlgn="base" hangingPunct="0">
        <a:spcBef>
          <a:spcPct val="20000"/>
        </a:spcBef>
        <a:spcAft>
          <a:spcPct val="0"/>
        </a:spcAft>
        <a:buChar char="–"/>
        <a:defRPr sz="10300">
          <a:solidFill>
            <a:schemeClr val="tx1"/>
          </a:solidFill>
          <a:latin typeface="+mn-lt"/>
        </a:defRPr>
      </a:lvl4pPr>
      <a:lvl5pPr marL="10582275" indent="-1176338" algn="l" defTabSz="4703763" rtl="0" eaLnBrk="0" fontAlgn="base" hangingPunct="0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5pPr>
      <a:lvl6pPr marL="11039475" indent="-1176338" algn="l" defTabSz="47037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6pPr>
      <a:lvl7pPr marL="11496675" indent="-1176338" algn="l" defTabSz="47037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7pPr>
      <a:lvl8pPr marL="11953875" indent="-1176338" algn="l" defTabSz="47037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8pPr>
      <a:lvl9pPr marL="12411075" indent="-1176338" algn="l" defTabSz="47037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D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3"/>
          <p:cNvSpPr txBox="1">
            <a:spLocks noChangeArrowheads="1"/>
          </p:cNvSpPr>
          <p:nvPr/>
        </p:nvSpPr>
        <p:spPr bwMode="auto">
          <a:xfrm>
            <a:off x="-2459" y="-46403"/>
            <a:ext cx="43893659" cy="616855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60325" cap="flat">
            <a:solidFill>
              <a:srgbClr val="92D050"/>
            </a:solidFill>
            <a:miter lim="800000"/>
          </a:ln>
        </p:spPr>
        <p:txBody>
          <a:bodyPr vert="horz" wrap="square" lIns="376203" tIns="188102" rIns="376203" bIns="188102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Arial"/>
              </a:defRPr>
            </a:lvl2pPr>
            <a:lvl3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Arial"/>
              </a:defRPr>
            </a:lvl3pPr>
            <a:lvl4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Arial"/>
              </a:defRPr>
            </a:lvl4pPr>
            <a:lvl5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Arial"/>
              </a:defRPr>
            </a:lvl5pPr>
            <a:lvl6pPr marL="457200" algn="ctr" defTabSz="3762375" rtl="0" fontAlgn="base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Arial"/>
              </a:defRPr>
            </a:lvl6pPr>
            <a:lvl7pPr marL="914400" algn="ctr" defTabSz="3762375" rtl="0" fontAlgn="base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Arial"/>
              </a:defRPr>
            </a:lvl7pPr>
            <a:lvl8pPr marL="1371600" algn="ctr" defTabSz="3762375" rtl="0" fontAlgn="base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Arial"/>
              </a:defRPr>
            </a:lvl8pPr>
            <a:lvl9pPr marL="1828800" algn="ctr" defTabSz="3762375" rtl="0" fontAlgn="base">
              <a:spcBef>
                <a:spcPct val="0"/>
              </a:spcBef>
              <a:spcAft>
                <a:spcPct val="0"/>
              </a:spcAft>
              <a:defRPr sz="18200">
                <a:solidFill>
                  <a:schemeClr val="tx2"/>
                </a:solidFill>
                <a:latin typeface="Arial"/>
              </a:defRPr>
            </a:lvl9pPr>
          </a:lstStyle>
          <a:p>
            <a:pPr eaLnBrk="1" hangingPunct="1"/>
            <a:endParaRPr lang="en-US" sz="4800" i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itle 11">
            <a:extLst>
              <a:ext uri="{FF2B5EF4-FFF2-40B4-BE49-F238E27FC236}">
                <a16:creationId xmlns:a16="http://schemas.microsoft.com/office/drawing/2014/main" id="{EE7A5C51-35F0-4B71-992D-43D344D16C04}"/>
              </a:ext>
            </a:extLst>
          </p:cNvPr>
          <p:cNvSpPr txBox="1"/>
          <p:nvPr/>
        </p:nvSpPr>
        <p:spPr>
          <a:xfrm>
            <a:off x="1371600" y="404038"/>
            <a:ext cx="41148000" cy="185281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500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TheKao</a:t>
            </a:r>
          </a:p>
          <a:p>
            <a:pPr algn="ctr"/>
            <a:endParaRPr lang="en-US" sz="8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Placeholder 16">
            <a:extLst>
              <a:ext uri="{FF2B5EF4-FFF2-40B4-BE49-F238E27FC236}">
                <a16:creationId xmlns:a16="http://schemas.microsoft.com/office/drawing/2014/main" id="{1F3AA395-C058-4F87-B3A3-A8A8BC543EF9}"/>
              </a:ext>
            </a:extLst>
          </p:cNvPr>
          <p:cNvSpPr txBox="1"/>
          <p:nvPr/>
        </p:nvSpPr>
        <p:spPr>
          <a:xfrm>
            <a:off x="0" y="2256854"/>
            <a:ext cx="42519600" cy="2714589"/>
          </a:xfrm>
          <a:prstGeom prst="rect">
            <a:avLst/>
          </a:prstGeom>
        </p:spPr>
        <p:txBody>
          <a:bodyPr wrap="square" lIns="128016" tIns="64008" rIns="128016" bIns="64008">
            <a:spAutoFit/>
          </a:bodyPr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Md.Ashikullah(IT22030) and  Abdur Rahim (IT22031)</a:t>
            </a:r>
          </a:p>
          <a:p>
            <a:pPr algn="ctr"/>
            <a:r>
              <a:rPr lang="en-US" sz="5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Communication Technology</a:t>
            </a:r>
          </a:p>
          <a:p>
            <a:pPr algn="ctr"/>
            <a:r>
              <a:rPr lang="en-US" sz="5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University, Santosh, Tangail-1902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4D4BC5-5256-4C2E-B3FB-87EA69B63AF3}"/>
              </a:ext>
            </a:extLst>
          </p:cNvPr>
          <p:cNvSpPr/>
          <p:nvPr/>
        </p:nvSpPr>
        <p:spPr>
          <a:xfrm>
            <a:off x="671912" y="7513379"/>
            <a:ext cx="10058400" cy="9749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 dirty="0">
              <a:effectLst/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F831EE1-8866-4A3E-8CAB-8624A11FF145}"/>
              </a:ext>
            </a:extLst>
          </p:cNvPr>
          <p:cNvSpPr/>
          <p:nvPr/>
        </p:nvSpPr>
        <p:spPr>
          <a:xfrm>
            <a:off x="11499931" y="7513380"/>
            <a:ext cx="10140869" cy="2468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 dirty="0">
              <a:effectLst/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26A6A3-D6D2-4951-8B04-EF51015D25DB}"/>
              </a:ext>
            </a:extLst>
          </p:cNvPr>
          <p:cNvSpPr/>
          <p:nvPr/>
        </p:nvSpPr>
        <p:spPr>
          <a:xfrm>
            <a:off x="22327952" y="7513379"/>
            <a:ext cx="10058400" cy="2469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 dirty="0">
              <a:effectLst/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BFD724-D51D-4DD6-A93A-40ABEA405C90}"/>
              </a:ext>
            </a:extLst>
          </p:cNvPr>
          <p:cNvSpPr/>
          <p:nvPr/>
        </p:nvSpPr>
        <p:spPr>
          <a:xfrm>
            <a:off x="33155972" y="7517019"/>
            <a:ext cx="10067435" cy="15021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 dirty="0">
              <a:effectLst/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36036AE-C83F-4AC9-800C-C6574727635F}"/>
              </a:ext>
            </a:extLst>
          </p:cNvPr>
          <p:cNvSpPr/>
          <p:nvPr/>
        </p:nvSpPr>
        <p:spPr>
          <a:xfrm>
            <a:off x="671912" y="18016401"/>
            <a:ext cx="10054281" cy="14178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 dirty="0">
              <a:effectLst/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5D5CB20-8752-4D75-A601-0EEB3443D27F}"/>
              </a:ext>
            </a:extLst>
          </p:cNvPr>
          <p:cNvSpPr/>
          <p:nvPr/>
        </p:nvSpPr>
        <p:spPr>
          <a:xfrm>
            <a:off x="33073504" y="23834495"/>
            <a:ext cx="10149903" cy="8359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 dirty="0">
              <a:effectLst/>
              <a:latin typeface="+mj-lt"/>
            </a:endParaRPr>
          </a:p>
        </p:txBody>
      </p:sp>
      <p:sp>
        <p:nvSpPr>
          <p:cNvPr id="58" name="TextBox 19">
            <a:extLst>
              <a:ext uri="{FF2B5EF4-FFF2-40B4-BE49-F238E27FC236}">
                <a16:creationId xmlns:a16="http://schemas.microsoft.com/office/drawing/2014/main" id="{B4F3D693-DA0F-454D-94C0-CEAA07C14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38440" y="25755600"/>
            <a:ext cx="9747333" cy="61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Thekao</a:t>
            </a:r>
            <a:r>
              <a:rPr lang="en-US" sz="3200" b="1" dirty="0"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project</a:t>
            </a:r>
            <a:r>
              <a:rPr lang="en-US" sz="3200" dirty="0">
                <a:cs typeface="Times New Roman" panose="02020603050405020304" pitchFamily="18" charset="0"/>
              </a:rPr>
              <a:t> </a:t>
            </a:r>
            <a:r>
              <a:rPr lang="en-US" sz="2800" dirty="0">
                <a:cs typeface="Times New Roman" panose="02020603050405020304" pitchFamily="18" charset="0"/>
              </a:rPr>
              <a:t>successfully demonstrates a complete Web Service application using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Django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 db.sqlite3</a:t>
            </a:r>
            <a:endParaRPr lang="en-US" sz="2800" dirty="0">
              <a:solidFill>
                <a:schemeClr val="bg2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cs typeface="Times New Roman" panose="02020603050405020304" pitchFamily="18" charset="0"/>
              </a:rPr>
              <a:t>This project helps in understanding how a real-world service-based system works with database integration.</a:t>
            </a:r>
          </a:p>
          <a:p>
            <a:pPr algn="just"/>
            <a:r>
              <a:rPr lang="en-US" sz="2800" dirty="0">
                <a:cs typeface="Times New Roman" panose="02020603050405020304" pitchFamily="18" charset="0"/>
              </a:rPr>
              <a:t>Through this project, knowledge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of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Django GUI design,, SQL </a:t>
            </a:r>
            <a:r>
              <a:rPr lang="en-US" sz="2800" dirty="0">
                <a:cs typeface="Times New Roman" panose="02020603050405020304" pitchFamily="18" charset="0"/>
              </a:rPr>
              <a:t>queries, and event-driven programming has been gained.</a:t>
            </a:r>
          </a:p>
          <a:p>
            <a:endParaRPr lang="en-US" sz="2800" dirty="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cs typeface="Times New Roman" panose="02020603050405020304" pitchFamily="18" charset="0"/>
              </a:rPr>
              <a:t>In the future, this system can be improved by adding features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like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password encryption, admin panel, online payment, and mobile support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800" dirty="0">
                <a:cs typeface="Times New Roman" panose="02020603050405020304" pitchFamily="18" charset="0"/>
              </a:rPr>
              <a:t>Overall, Thekao is a simple yet effective project for learning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Django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800" dirty="0">
              <a:solidFill>
                <a:schemeClr val="bg2">
                  <a:lumMod val="50000"/>
                </a:schemeClr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solidFill>
                <a:schemeClr val="bg2">
                  <a:lumMod val="50000"/>
                </a:schemeClr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DA12B6-07B5-44F9-8F8B-E1BE664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93" y="7513379"/>
            <a:ext cx="10058400" cy="856940"/>
          </a:xfrm>
          <a:prstGeom prst="rect">
            <a:avLst/>
          </a:prstGeom>
          <a:solidFill>
            <a:srgbClr val="03AD8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1. Project Summary</a:t>
            </a:r>
            <a:r>
              <a:rPr lang="en-US" sz="3600" b="1" dirty="0">
                <a:solidFill>
                  <a:schemeClr val="bg1"/>
                </a:solidFill>
                <a:effectLst/>
                <a:latin typeface="Amaranth" panose="02000503050000020004" pitchFamily="2" charset="0"/>
              </a:rPr>
              <a:t>: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12" y="18016401"/>
            <a:ext cx="10058400" cy="856940"/>
          </a:xfrm>
          <a:prstGeom prst="rect">
            <a:avLst/>
          </a:prstGeom>
          <a:solidFill>
            <a:srgbClr val="03AD8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ea typeface="Tahoma" panose="020B0604030504040204" pitchFamily="34" charset="0"/>
                <a:cs typeface="Times New Roman" panose="02020603050405020304" pitchFamily="18" charset="0"/>
              </a:rPr>
              <a:t>2. Introduction</a:t>
            </a:r>
            <a:r>
              <a:rPr lang="en-US" sz="36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68B6862-5CC5-4906-AC03-EA9661AD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9932" y="7517021"/>
            <a:ext cx="10058400" cy="856940"/>
          </a:xfrm>
          <a:prstGeom prst="rect">
            <a:avLst/>
          </a:prstGeom>
          <a:solidFill>
            <a:srgbClr val="03AD8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4. Working Procedure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96BB99-3F6E-4E73-BA6B-A122D83B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7952" y="7517021"/>
            <a:ext cx="10058400" cy="856940"/>
          </a:xfrm>
          <a:prstGeom prst="rect">
            <a:avLst/>
          </a:prstGeom>
          <a:solidFill>
            <a:srgbClr val="03AD8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4.2. Working Procedure: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E282AE-183A-4D49-B152-23A5A101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5973" y="7513379"/>
            <a:ext cx="10058400" cy="856940"/>
          </a:xfrm>
          <a:prstGeom prst="rect">
            <a:avLst/>
          </a:prstGeom>
          <a:solidFill>
            <a:srgbClr val="03AD8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5. Results:</a:t>
            </a:r>
            <a:endParaRPr lang="en-US" sz="3600" dirty="0">
              <a:solidFill>
                <a:schemeClr val="bg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EDC1F28-88BB-4DAD-9112-B4904B4A7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3504" y="23834496"/>
            <a:ext cx="10140869" cy="1702881"/>
          </a:xfrm>
          <a:prstGeom prst="rect">
            <a:avLst/>
          </a:prstGeom>
          <a:solidFill>
            <a:srgbClr val="03AD8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6. Conclusion: </a:t>
            </a:r>
          </a:p>
        </p:txBody>
      </p:sp>
      <p:sp>
        <p:nvSpPr>
          <p:cNvPr id="38" name="Text Box 6">
            <a:extLst>
              <a:ext uri="{FF2B5EF4-FFF2-40B4-BE49-F238E27FC236}">
                <a16:creationId xmlns:a16="http://schemas.microsoft.com/office/drawing/2014/main" id="{58B3357B-4821-4FA8-8444-207C696AA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12" y="8719741"/>
            <a:ext cx="9601200" cy="8140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3200" b="1" dirty="0">
                <a:solidFill>
                  <a:srgbClr val="92D050"/>
                </a:solidFill>
              </a:rPr>
              <a:t>Thekao</a:t>
            </a:r>
            <a:r>
              <a:rPr lang="en-US" sz="2800" dirty="0"/>
              <a:t> is a </a:t>
            </a:r>
            <a:r>
              <a:rPr lang="en-US" sz="2800" b="1" dirty="0"/>
              <a:t>web-based service application</a:t>
            </a:r>
            <a:r>
              <a:rPr lang="en-US" sz="2800" dirty="0"/>
              <a:t> developed using </a:t>
            </a:r>
            <a:r>
              <a:rPr lang="en-US" sz="3200" b="1" dirty="0">
                <a:solidFill>
                  <a:srgbClr val="92D050"/>
                </a:solidFill>
              </a:rPr>
              <a:t>Django</a:t>
            </a:r>
            <a:r>
              <a:rPr lang="en-US" sz="2800" dirty="0"/>
              <a:t> for the graphical user interface and </a:t>
            </a:r>
            <a:r>
              <a:rPr lang="en-US" sz="2800" b="1" dirty="0">
                <a:solidFill>
                  <a:srgbClr val="92D050"/>
                </a:solidFill>
              </a:rPr>
              <a:t>SQLite (db.sqlite3)</a:t>
            </a:r>
            <a:r>
              <a:rPr lang="en-US" sz="2800" dirty="0"/>
              <a:t> for database management.</a:t>
            </a:r>
          </a:p>
          <a:p>
            <a:endParaRPr lang="en-US" sz="2800" dirty="0"/>
          </a:p>
          <a:p>
            <a:r>
              <a:rPr lang="en-US" sz="2800" dirty="0"/>
              <a:t>The main purpose of this project is to provide </a:t>
            </a:r>
            <a:r>
              <a:rPr lang="en-US" sz="2800" b="1" dirty="0"/>
              <a:t>multiple services within a single platform</a:t>
            </a:r>
            <a:r>
              <a:rPr lang="en-US" sz="2800" dirty="0"/>
              <a:t>, including </a:t>
            </a:r>
            <a:r>
              <a:rPr lang="en-US" sz="2800" b="1" dirty="0"/>
              <a:t>user login, user registration, driver registration, ride sharing, food ordering, and parcel delivery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The application starts with a </a:t>
            </a:r>
            <a:r>
              <a:rPr lang="en-US" sz="2800" b="1" dirty="0"/>
              <a:t>secure login system</a:t>
            </a:r>
            <a:r>
              <a:rPr lang="en-US" sz="2800" dirty="0"/>
              <a:t> using email and password. After successful authentication, users are redirected to the </a:t>
            </a:r>
            <a:r>
              <a:rPr lang="en-US" sz="2800" b="1" dirty="0">
                <a:solidFill>
                  <a:srgbClr val="92D050"/>
                </a:solidFill>
              </a:rPr>
              <a:t>Thekao Dashboard</a:t>
            </a:r>
            <a:r>
              <a:rPr lang="en-US" sz="2800" dirty="0"/>
              <a:t>, where they can access and perform various services based on their roles.</a:t>
            </a:r>
          </a:p>
          <a:p>
            <a:endParaRPr lang="en-US" sz="2800" dirty="0"/>
          </a:p>
          <a:p>
            <a:r>
              <a:rPr lang="en-US" sz="2800" dirty="0"/>
              <a:t>This project demonstrates the </a:t>
            </a:r>
            <a:r>
              <a:rPr lang="en-US" sz="2800" b="1" dirty="0"/>
              <a:t>practical use of Django-based user interfaces, </a:t>
            </a:r>
            <a:r>
              <a:rPr lang="en-US" sz="2800" b="1" dirty="0">
                <a:solidFill>
                  <a:srgbClr val="92D050"/>
                </a:solidFill>
              </a:rPr>
              <a:t>Django ORM for database connectivity</a:t>
            </a:r>
            <a:r>
              <a:rPr lang="en-US" sz="2800" b="1" dirty="0"/>
              <a:t>, secure database operations, and event-driven user interactions</a:t>
            </a:r>
            <a:r>
              <a:rPr lang="en-US" sz="2800" dirty="0"/>
              <a:t> in a real-world web application.</a:t>
            </a:r>
          </a:p>
          <a:p>
            <a:endParaRPr lang="en-US" sz="800" dirty="0"/>
          </a:p>
        </p:txBody>
      </p:sp>
      <p:sp>
        <p:nvSpPr>
          <p:cNvPr id="39" name="Text Box 6">
            <a:extLst>
              <a:ext uri="{FF2B5EF4-FFF2-40B4-BE49-F238E27FC236}">
                <a16:creationId xmlns:a16="http://schemas.microsoft.com/office/drawing/2014/main" id="{1B3DAFDC-3567-41A6-899A-8D92E3BE5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12" y="19264013"/>
            <a:ext cx="9906798" cy="1817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800" b="1" dirty="0">
                <a:solidFill>
                  <a:schemeClr val="accent6"/>
                </a:solidFill>
              </a:rPr>
              <a:t>Thekao</a:t>
            </a:r>
            <a:r>
              <a:rPr lang="en-US" sz="2800" dirty="0"/>
              <a:t> is developed using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b="1" dirty="0">
                <a:solidFill>
                  <a:schemeClr val="accent6"/>
                </a:solidFill>
              </a:rPr>
              <a:t>Django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/>
              <a:t>to build an intuitive and responsive graphical user interface. The project uses </a:t>
            </a:r>
            <a:r>
              <a:rPr lang="en-US" sz="2800" b="1" dirty="0">
                <a:solidFill>
                  <a:schemeClr val="accent6"/>
                </a:solidFill>
              </a:rPr>
              <a:t>SQLite (db.sqlite3</a:t>
            </a:r>
            <a:r>
              <a:rPr lang="en-US" sz="2800" b="1" dirty="0"/>
              <a:t>)</a:t>
            </a:r>
            <a:r>
              <a:rPr lang="en-US" sz="2800" dirty="0"/>
              <a:t> as the backend database to ensure efficient data storage, retrieval, and management. Through features such as </a:t>
            </a:r>
            <a:r>
              <a:rPr lang="en-US" sz="2800" b="1" dirty="0">
                <a:solidFill>
                  <a:schemeClr val="accent6"/>
                </a:solidFill>
              </a:rPr>
              <a:t>user authentication</a:t>
            </a:r>
            <a:r>
              <a:rPr lang="en-US" sz="2800" dirty="0">
                <a:solidFill>
                  <a:schemeClr val="accent6"/>
                </a:solidFill>
              </a:rPr>
              <a:t>, </a:t>
            </a:r>
            <a:r>
              <a:rPr lang="en-US" sz="2800" b="1" dirty="0">
                <a:solidFill>
                  <a:schemeClr val="accent6"/>
                </a:solidFill>
              </a:rPr>
              <a:t>service management</a:t>
            </a:r>
            <a:r>
              <a:rPr lang="en-US" sz="2800" dirty="0">
                <a:solidFill>
                  <a:schemeClr val="accent6"/>
                </a:solidFill>
              </a:rPr>
              <a:t>, and </a:t>
            </a:r>
            <a:r>
              <a:rPr lang="en-US" sz="2800" b="1" dirty="0">
                <a:solidFill>
                  <a:schemeClr val="accent6"/>
                </a:solidFill>
              </a:rPr>
              <a:t>secure data handling</a:t>
            </a:r>
            <a:r>
              <a:rPr lang="en-US" sz="2800" dirty="0">
                <a:solidFill>
                  <a:schemeClr val="accent6"/>
                </a:solidFill>
              </a:rPr>
              <a:t>, </a:t>
            </a:r>
            <a:r>
              <a:rPr lang="en-US" sz="2800" dirty="0"/>
              <a:t>Thekao demonstrates the core concepts of database connectivity and user interaction.</a:t>
            </a:r>
          </a:p>
          <a:p>
            <a:endParaRPr lang="en-US" sz="2800" dirty="0"/>
          </a:p>
          <a:p>
            <a:r>
              <a:rPr lang="en-US" sz="2800" dirty="0"/>
              <a:t>This project aims to help students gain </a:t>
            </a:r>
            <a:r>
              <a:rPr lang="en-US" sz="2800" b="1" dirty="0"/>
              <a:t>hands-on experience with Django integration</a:t>
            </a:r>
            <a:r>
              <a:rPr lang="en-US" sz="2800" dirty="0"/>
              <a:t>, understand the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b="1" dirty="0"/>
              <a:t>architecture of service-based applications</a:t>
            </a:r>
            <a:r>
              <a:rPr lang="en-US" sz="2800" dirty="0">
                <a:solidFill>
                  <a:schemeClr val="accent6"/>
                </a:solidFill>
              </a:rPr>
              <a:t>,</a:t>
            </a:r>
            <a:r>
              <a:rPr lang="en-US" sz="2800" dirty="0"/>
              <a:t> and apply </a:t>
            </a:r>
            <a:r>
              <a:rPr lang="en-US" sz="2800" b="1" dirty="0"/>
              <a:t>theoretical knowledge to a practical software solution</a:t>
            </a:r>
            <a:r>
              <a:rPr lang="en-US" sz="2800" dirty="0"/>
              <a:t>. Thekao serves as an educational model for learning </a:t>
            </a:r>
            <a:r>
              <a:rPr lang="en-US" sz="2800" b="1" dirty="0">
                <a:solidFill>
                  <a:schemeClr val="accent6"/>
                </a:solidFill>
              </a:rPr>
              <a:t>web-based application development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/>
              <a:t>using </a:t>
            </a:r>
            <a:r>
              <a:rPr lang="en-US" sz="2800" b="1" dirty="0">
                <a:solidFill>
                  <a:schemeClr val="accent6"/>
                </a:solidFill>
              </a:rPr>
              <a:t>Django and SQLite</a:t>
            </a:r>
            <a:r>
              <a:rPr lang="en-US" sz="2800" dirty="0"/>
              <a:t> in a real-world context.</a:t>
            </a:r>
            <a:r>
              <a:rPr lang="en-US" sz="3600" dirty="0"/>
              <a:t>.</a:t>
            </a:r>
          </a:p>
          <a:p>
            <a:pPr algn="just"/>
            <a:endParaRPr lang="en-US" sz="2400" dirty="0"/>
          </a:p>
          <a:p>
            <a:r>
              <a:rPr lang="en-US" sz="4000" dirty="0">
                <a:solidFill>
                  <a:srgbClr val="00B050"/>
                </a:solidFill>
              </a:rPr>
              <a:t> </a:t>
            </a:r>
            <a:r>
              <a:rPr lang="en-US" sz="4000" b="1" dirty="0">
                <a:solidFill>
                  <a:srgbClr val="00B050"/>
                </a:solidFill>
              </a:rPr>
              <a:t>3. Objectives:</a:t>
            </a:r>
          </a:p>
          <a:p>
            <a:r>
              <a:rPr lang="en-US" sz="2800" dirty="0"/>
              <a:t>The main objectives of the </a:t>
            </a:r>
            <a:r>
              <a:rPr lang="en-US" sz="2800" b="1" dirty="0">
                <a:solidFill>
                  <a:srgbClr val="00B0F0"/>
                </a:solidFill>
              </a:rPr>
              <a:t>Thekao</a:t>
            </a:r>
            <a:r>
              <a:rPr lang="en-US" sz="2800" dirty="0"/>
              <a:t> project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design a secure </a:t>
            </a:r>
            <a:r>
              <a:rPr lang="en-US" sz="2800" b="1" dirty="0"/>
              <a:t>login system</a:t>
            </a:r>
            <a:r>
              <a:rPr lang="en-US" sz="2800" dirty="0"/>
              <a:t> using email and 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connect </a:t>
            </a:r>
            <a:r>
              <a:rPr lang="en-US" sz="2800" b="1" dirty="0">
                <a:solidFill>
                  <a:srgbClr val="00B0F0"/>
                </a:solidFill>
              </a:rPr>
              <a:t>Django</a:t>
            </a:r>
            <a:r>
              <a:rPr lang="en-US" sz="2800" dirty="0"/>
              <a:t> with </a:t>
            </a:r>
            <a:r>
              <a:rPr lang="en-US" sz="2800" b="1" dirty="0">
                <a:solidFill>
                  <a:srgbClr val="00B0F0"/>
                </a:solidFill>
              </a:rPr>
              <a:t>SQLite (db.sqlite3</a:t>
            </a:r>
            <a:r>
              <a:rPr lang="en-US" sz="2800" b="1" dirty="0"/>
              <a:t>)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securely </a:t>
            </a:r>
            <a:r>
              <a:rPr lang="en-US" sz="2800" b="1" dirty="0"/>
              <a:t>store and retrieve data</a:t>
            </a:r>
            <a:r>
              <a:rPr lang="en-US" sz="2800" dirty="0"/>
              <a:t> from the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provide </a:t>
            </a:r>
            <a:r>
              <a:rPr lang="en-US" sz="2800" b="1" dirty="0">
                <a:solidFill>
                  <a:srgbClr val="00B0F0"/>
                </a:solidFill>
              </a:rPr>
              <a:t>multiple services on a single platform</a:t>
            </a:r>
            <a:r>
              <a:rPr lang="en-US" sz="2800" dirty="0"/>
              <a:t>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C000"/>
                </a:solidFill>
              </a:rPr>
              <a:t>User Registration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C000"/>
                </a:solidFill>
              </a:rPr>
              <a:t>Driver Registration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C000"/>
                </a:solidFill>
              </a:rPr>
              <a:t>Ride Sharing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C000"/>
                </a:solidFill>
              </a:rPr>
              <a:t>Food Ordering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C000"/>
                </a:solidFill>
              </a:rPr>
              <a:t>Parcel Delivery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Text Box 6">
            <a:extLst>
              <a:ext uri="{FF2B5EF4-FFF2-40B4-BE49-F238E27FC236}">
                <a16:creationId xmlns:a16="http://schemas.microsoft.com/office/drawing/2014/main" id="{862E7ADB-31DC-4FA6-AC30-3482F9072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28531" y="8714072"/>
            <a:ext cx="9531269" cy="21744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pPr>
              <a:buClr>
                <a:srgbClr val="FF000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sz="36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4.1. Working Procedure(visual representation)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Clr>
                <a:srgbClr val="FF0000"/>
              </a:buClr>
              <a:buAutoNum type="arabicPeriod"/>
            </a:pPr>
            <a:r>
              <a:rPr lang="en-US" sz="36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Ride-Sharing:</a:t>
            </a: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Food Ordering :</a:t>
            </a: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400" dirty="0"/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3. </a:t>
            </a:r>
            <a:r>
              <a:rPr lang="en-US" sz="3600" b="1" dirty="0">
                <a:highlight>
                  <a:srgbClr val="00FF00"/>
                </a:highlight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Parcel Delivery:</a:t>
            </a: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00FF00"/>
              </a:highlight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1" name="Text Box 6">
            <a:extLst>
              <a:ext uri="{FF2B5EF4-FFF2-40B4-BE49-F238E27FC236}">
                <a16:creationId xmlns:a16="http://schemas.microsoft.com/office/drawing/2014/main" id="{415768D9-2D35-44FA-889C-1EC1DE8F0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9069" y="8425411"/>
            <a:ext cx="9869815" cy="3079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process of the Thekao system is described step by step below:</a:t>
            </a:r>
          </a:p>
          <a:p>
            <a:endParaRPr lang="en-US" sz="32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1.Application Start:</a:t>
            </a:r>
            <a:endParaRPr lang="en-US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starts and connects to the </a:t>
            </a:r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db.sqlite3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3200" b="1" dirty="0">
                <a:solidFill>
                  <a:srgbClr val="92D050"/>
                </a:solidFill>
              </a:rPr>
              <a:t>Django ORM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rgbClr val="FF0000"/>
              </a:buClr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2.Login System: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and password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email already exists, the password is verified.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email does not exist, it is saved as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first-time login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rgbClr val="FF0000"/>
              </a:buClr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3.Dashboard Display: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login,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shown.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uses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CardLayout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smooth screen switching.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4.User Registration: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 name, phone, email, gender, and password.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PersonUser table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db.sqlite3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5.Driver Registration: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information is collected and saved in the </a:t>
            </a:r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Ride Booking: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user ID and driver ID.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details such as pickup, drop location, distance, and fare are stored in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rides table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Food Ordering: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order details are saved in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food_orders table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Parcel Delivery: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Parcel information is stored in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deliveries table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operations are handled using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PreparedStatement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secure database access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5BA5B394-92CD-4B3C-9507-4B3F124A5E31}"/>
              </a:ext>
            </a:extLst>
          </p:cNvPr>
          <p:cNvSpPr txBox="1"/>
          <p:nvPr/>
        </p:nvSpPr>
        <p:spPr>
          <a:xfrm>
            <a:off x="33384573" y="8656761"/>
            <a:ext cx="9829800" cy="1511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execution, the Thekao project provides the following results: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system with name and password validation 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50"/>
                </a:solidFill>
              </a:rPr>
              <a:t>Successfully connected </a:t>
            </a:r>
            <a:r>
              <a:rPr lang="en-US" sz="2800" b="1" dirty="0">
                <a:solidFill>
                  <a:srgbClr val="00B050"/>
                </a:solidFill>
              </a:rPr>
              <a:t>Django with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db.sqlite3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solidFill>
                <a:srgbClr val="00B050"/>
              </a:solidFill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50"/>
                </a:solidFill>
              </a:rPr>
              <a:t>User-friendly </a:t>
            </a:r>
            <a:r>
              <a:rPr lang="en-US" sz="2800" b="1" dirty="0">
                <a:solidFill>
                  <a:srgbClr val="00B050"/>
                </a:solidFill>
              </a:rPr>
              <a:t>dashboard interface </a:t>
            </a:r>
          </a:p>
          <a:p>
            <a:pPr>
              <a:buClr>
                <a:srgbClr val="FF0000"/>
              </a:buClr>
            </a:pPr>
            <a:endParaRPr lang="en-US" sz="2800" b="1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Data stored correctly in database tables:</a:t>
            </a:r>
          </a:p>
          <a:p>
            <a:pPr>
              <a:buClr>
                <a:srgbClr val="FF0000"/>
              </a:buClr>
            </a:pP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      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1.personUser </a:t>
            </a:r>
          </a:p>
          <a:p>
            <a:pPr>
              <a:buClr>
                <a:srgbClr val="FF0000"/>
              </a:buClr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2. Drivers</a:t>
            </a:r>
          </a:p>
          <a:p>
            <a:pPr>
              <a:buClr>
                <a:srgbClr val="FF0000"/>
              </a:buClr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3.Rides</a:t>
            </a:r>
          </a:p>
          <a:p>
            <a:pPr>
              <a:buClr>
                <a:srgbClr val="FF0000"/>
              </a:buClr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4. Food order</a:t>
            </a:r>
          </a:p>
          <a:p>
            <a:pPr>
              <a:buClr>
                <a:srgbClr val="FF0000"/>
              </a:buClr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5.Deliveries</a:t>
            </a:r>
          </a:p>
          <a:p>
            <a:pPr>
              <a:buClr>
                <a:srgbClr val="FF0000"/>
              </a:buClr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confirmation messages for: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Registration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Ride booking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Food ordering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Parcel delivery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>
              <a:buClr>
                <a:srgbClr val="FF0000"/>
              </a:buClr>
            </a:pPr>
            <a:r>
              <a:rPr lang="en-US" sz="2800" dirty="0"/>
              <a:t>The application runs smoothly in </a:t>
            </a:r>
            <a:r>
              <a:rPr lang="en-US" sz="2800" b="1" dirty="0"/>
              <a:t>VS Code,PyCharm</a:t>
            </a:r>
            <a:r>
              <a:rPr lang="en-US" sz="2800" dirty="0"/>
              <a:t> without using Maven.</a:t>
            </a:r>
            <a:endParaRPr lang="en-US" sz="2800" b="1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Picture 2" descr="A logo of a book with a candle and a star&#10;&#10;AI-generated content may be incorrect.">
            <a:extLst>
              <a:ext uri="{FF2B5EF4-FFF2-40B4-BE49-F238E27FC236}">
                <a16:creationId xmlns:a16="http://schemas.microsoft.com/office/drawing/2014/main" id="{D0E7B764-0E83-D2E1-210D-B7F5035E6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06" y="587312"/>
            <a:ext cx="4432131" cy="4411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08B75F-5367-C3EB-EE8B-DD43F63DD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3621" y="25755600"/>
            <a:ext cx="6670775" cy="46869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44D27E-B2C5-F740-80C6-38C6E9BD4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230" y="9982201"/>
            <a:ext cx="5273770" cy="22628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4B347B-8424-ACEC-FD94-1C1A72325A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6239" y="13420964"/>
            <a:ext cx="6705752" cy="28732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525DEC-4CFC-275B-47CB-BBC47E4278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3623" y="11452396"/>
            <a:ext cx="6670777" cy="50107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0926082-7B84-C6AF-9A6C-6EC636D528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93622" y="18187724"/>
            <a:ext cx="6670775" cy="5205676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hilosophicalseafoam|08-2022"/>
</p:tagLst>
</file>

<file path=ppt/theme/theme1.xml><?xml version="1.0" encoding="utf-8"?>
<a:theme xmlns:a="http://schemas.openxmlformats.org/drawingml/2006/main" name="Default Desig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3281</TotalTime>
  <Words>776</Words>
  <Application>Microsoft Office PowerPoint</Application>
  <PresentationFormat>Custom</PresentationFormat>
  <Paragraphs>189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Amaranth</vt:lpstr>
      <vt:lpstr>Titillium Web</vt:lpstr>
      <vt:lpstr>Tahoma</vt:lpstr>
      <vt:lpstr>Times New Roman</vt:lpstr>
      <vt:lpstr>Wingdings</vt:lpstr>
      <vt:lpstr>Open Sans</vt:lpstr>
      <vt:lpstr>Arial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Ashikullah</cp:lastModifiedBy>
  <cp:revision>59</cp:revision>
  <dcterms:modified xsi:type="dcterms:W3CDTF">2026-01-03T07:41:26Z</dcterms:modified>
  <cp:category>science research poster</cp:category>
</cp:coreProperties>
</file>